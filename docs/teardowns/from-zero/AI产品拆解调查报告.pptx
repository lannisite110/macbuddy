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C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8288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Arial"/>
              </a:defRPr>
            </a:pPr>
            <a:r>
              <a:t>AI 产品拆解调查报告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83464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A8B5BC"/>
                </a:solidFill>
                <a:latin typeface="Arial"/>
              </a:defRPr>
            </a:pPr>
            <a:r>
              <a:t>Cursor · Codex · WorkBuddy · Qoder · DeepSeek Harness · Unsloth</a:t>
            </a:r>
            <a:br/>
            <a:r>
              <a:t>基于 docs/teardowns/from-zero 七份材料汇总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30352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A9D8F"/>
                </a:solidFill>
                <a:latin typeface="Arial"/>
              </a:defRPr>
            </a:pPr>
            <a:r>
              <a:t>2026-08-20  ·  教学调研用途，非各公司内部文档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C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Arial"/>
              </a:defRPr>
            </a:pPr>
            <a:r>
              <a:t>目录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8580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A9D8F"/>
                </a:solidFill>
                <a:latin typeface="Arial"/>
              </a:defRPr>
            </a:pPr>
            <a:r>
              <a:t>本报告与演示结构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51560"/>
            <a:ext cx="2011680" cy="36576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10058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F0F4F5"/>
                </a:solidFill>
                <a:latin typeface="Arial"/>
              </a:defRPr>
            </a:pPr>
            <a:r>
              <a:t>1. 调查目的与材料范围</a:t>
            </a:r>
          </a:p>
          <a:p>
            <a:pPr>
              <a:spcAft>
                <a:spcPts val="800"/>
              </a:spcAft>
              <a:defRPr sz="2000">
                <a:solidFill>
                  <a:srgbClr val="F0F4F5"/>
                </a:solidFill>
                <a:latin typeface="Arial"/>
              </a:defRPr>
            </a:pPr>
            <a:r>
              <a:t>2. 核心发现：同一口锅 vs 两类问题</a:t>
            </a:r>
          </a:p>
          <a:p>
            <a:pPr>
              <a:spcAft>
                <a:spcPts val="800"/>
              </a:spcAft>
              <a:defRPr sz="2000">
                <a:solidFill>
                  <a:srgbClr val="F0F4F5"/>
                </a:solidFill>
                <a:latin typeface="Arial"/>
              </a:defRPr>
            </a:pPr>
            <a:r>
              <a:t>3. 六产品分册要点（含 Unsloth）</a:t>
            </a:r>
          </a:p>
          <a:p>
            <a:pPr>
              <a:spcAft>
                <a:spcPts val="800"/>
              </a:spcAft>
              <a:defRPr sz="2000">
                <a:solidFill>
                  <a:srgbClr val="F0F4F5"/>
                </a:solidFill>
                <a:latin typeface="Arial"/>
              </a:defRPr>
            </a:pPr>
            <a:r>
              <a:t>4. 横向对比表</a:t>
            </a:r>
          </a:p>
          <a:p>
            <a:pPr>
              <a:spcAft>
                <a:spcPts val="800"/>
              </a:spcAft>
              <a:defRPr sz="2000">
                <a:solidFill>
                  <a:srgbClr val="F0F4F5"/>
                </a:solidFill>
                <a:latin typeface="Arial"/>
              </a:defRPr>
            </a:pPr>
            <a:r>
              <a:t>5. 对 MacBuddy 的行动建议</a:t>
            </a:r>
          </a:p>
          <a:p>
            <a:pPr>
              <a:spcAft>
                <a:spcPts val="800"/>
              </a:spcAft>
              <a:defRPr sz="2000">
                <a:solidFill>
                  <a:srgbClr val="F0F4F5"/>
                </a:solidFill>
                <a:latin typeface="Arial"/>
              </a:defRPr>
            </a:pPr>
            <a:r>
              <a:t>6. 结论与阅读顺序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C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Arial"/>
              </a:defRPr>
            </a:pPr>
            <a:r>
              <a:t>调查目的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8580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A9D8F"/>
                </a:solidFill>
                <a:latin typeface="Arial"/>
              </a:defRPr>
            </a:pPr>
            <a:r>
              <a:t>要回答的四个问题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51560"/>
            <a:ext cx="2011680" cy="36576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10058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200">
                <a:solidFill>
                  <a:srgbClr val="F0F4F5"/>
                </a:solidFill>
                <a:latin typeface="Arial"/>
              </a:defRPr>
            </a:pPr>
            <a:r>
              <a:t>各自解决什么痛点？</a:t>
            </a:r>
          </a:p>
          <a:p>
            <a:pPr>
              <a:spcAft>
                <a:spcPts val="800"/>
              </a:spcAft>
              <a:defRPr sz="2200">
                <a:solidFill>
                  <a:srgbClr val="F0F4F5"/>
                </a:solidFill>
                <a:latin typeface="Arial"/>
              </a:defRPr>
            </a:pPr>
            <a:r>
              <a:t>设计概念与系统积木如何拼起来？</a:t>
            </a:r>
          </a:p>
          <a:p>
            <a:pPr>
              <a:spcAft>
                <a:spcPts val="800"/>
              </a:spcAft>
              <a:defRPr sz="2200">
                <a:solidFill>
                  <a:srgbClr val="F0F4F5"/>
                </a:solidFill>
                <a:latin typeface="Arial"/>
              </a:defRPr>
            </a:pPr>
            <a:r>
              <a:t>从零开发的最小可行路径是什么？</a:t>
            </a:r>
          </a:p>
          <a:p>
            <a:pPr>
              <a:spcAft>
                <a:spcPts val="800"/>
              </a:spcAft>
              <a:defRPr sz="2200">
                <a:solidFill>
                  <a:srgbClr val="F0F4F5"/>
                </a:solidFill>
                <a:latin typeface="Arial"/>
              </a:defRPr>
            </a:pPr>
            <a:r>
              <a:t>MacBuddy 该学什么、不该抄什么？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C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Arial"/>
              </a:defRPr>
            </a:pPr>
            <a:r>
              <a:t>材料范围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8580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A9D8F"/>
                </a:solidFill>
                <a:latin typeface="Arial"/>
              </a:defRPr>
            </a:pPr>
            <a:r>
              <a:t>七份 from-zero 拆解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51560"/>
            <a:ext cx="2011680" cy="36576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F0F4F5"/>
                </a:solidFill>
                <a:latin typeface="Arial"/>
              </a:defRPr>
            </a:pPr>
            <a:r>
              <a:t>00 总览 — 共用 Agent 循环；Unsloth 例外</a:t>
            </a:r>
          </a:p>
          <a:p>
            <a:pPr>
              <a:spcAft>
                <a:spcPts val="800"/>
              </a:spcAft>
              <a:defRPr sz="1800">
                <a:solidFill>
                  <a:srgbClr val="F0F4F5"/>
                </a:solidFill>
                <a:latin typeface="Arial"/>
              </a:defRPr>
            </a:pPr>
            <a:r>
              <a:t>01 Cursor — 把 AI 焊进代码编辑器</a:t>
            </a:r>
          </a:p>
          <a:p>
            <a:pPr>
              <a:spcAft>
                <a:spcPts val="800"/>
              </a:spcAft>
              <a:defRPr sz="1800">
                <a:solidFill>
                  <a:srgbClr val="F0F4F5"/>
                </a:solidFill>
                <a:latin typeface="Arial"/>
              </a:defRPr>
            </a:pPr>
            <a:r>
              <a:t>02 Codex — Agent 发动机 + 多种外壳</a:t>
            </a:r>
          </a:p>
          <a:p>
            <a:pPr>
              <a:spcAft>
                <a:spcPts val="800"/>
              </a:spcAft>
              <a:defRPr sz="1800">
                <a:solidFill>
                  <a:srgbClr val="F0F4F5"/>
                </a:solidFill>
                <a:latin typeface="Arial"/>
              </a:defRPr>
            </a:pPr>
            <a:r>
              <a:t>03 WorkBuddy — 办公 Agent，交文档/表格</a:t>
            </a:r>
          </a:p>
          <a:p>
            <a:pPr>
              <a:spcAft>
                <a:spcPts val="800"/>
              </a:spcAft>
              <a:defRPr sz="1800">
                <a:solidFill>
                  <a:srgbClr val="F0F4F5"/>
                </a:solidFill>
                <a:latin typeface="Arial"/>
              </a:defRPr>
            </a:pPr>
            <a:r>
              <a:t>04 Qoder — 定目标、审结果的编程平台</a:t>
            </a:r>
          </a:p>
          <a:p>
            <a:pPr>
              <a:spcAft>
                <a:spcPts val="800"/>
              </a:spcAft>
              <a:defRPr sz="1800">
                <a:solidFill>
                  <a:srgbClr val="F0F4F5"/>
                </a:solidFill>
                <a:latin typeface="Arial"/>
              </a:defRPr>
            </a:pPr>
            <a:r>
              <a:t>05 DeepSeek Harness — 一切皆插件的开源底盘</a:t>
            </a:r>
          </a:p>
          <a:p>
            <a:pPr>
              <a:spcAft>
                <a:spcPts val="800"/>
              </a:spcAft>
              <a:defRPr sz="1800">
                <a:solidFill>
                  <a:srgbClr val="F0F4F5"/>
                </a:solidFill>
                <a:latin typeface="Arial"/>
              </a:defRPr>
            </a:pPr>
            <a:r>
              <a:t>06 Unsloth — 本地训练/跑模型（不是 Agent）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C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Arial"/>
              </a:defRPr>
            </a:pPr>
            <a:r>
              <a:t>核心发现①：同一口锅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8580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A9D8F"/>
                </a:solidFill>
                <a:latin typeface="Arial"/>
              </a:defRPr>
            </a:pPr>
            <a:r>
              <a:t>除 Unsloth 外，内核都是 Agent 循环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51560"/>
            <a:ext cx="2011680" cy="36576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F0F4F5"/>
                </a:solidFill>
                <a:latin typeface="Arial"/>
              </a:defRPr>
            </a:pPr>
            <a:r>
              <a:t>人说话 → 组装上下文 → 模型决策 → 调用工具 → 观察 → 再决策</a:t>
            </a:r>
          </a:p>
          <a:p>
            <a:pPr>
              <a:spcAft>
                <a:spcPts val="800"/>
              </a:spcAft>
              <a:defRPr sz="1800">
                <a:solidFill>
                  <a:srgbClr val="F0F4F5"/>
                </a:solidFill>
                <a:latin typeface="Arial"/>
              </a:defRPr>
            </a:pPr>
            <a:r>
              <a:t>差别只在：外壳、工具危险度、上下文从哪来</a:t>
            </a:r>
          </a:p>
          <a:p>
            <a:pPr>
              <a:spcAft>
                <a:spcPts val="800"/>
              </a:spcAft>
              <a:defRPr sz="1800">
                <a:solidFill>
                  <a:srgbClr val="F0F4F5"/>
                </a:solidFill>
                <a:latin typeface="Arial"/>
              </a:defRPr>
            </a:pPr>
            <a:r>
              <a:t>Cursor：索引 + 编辑器；Codex：App Server 事件</a:t>
            </a:r>
          </a:p>
          <a:p>
            <a:pPr>
              <a:spcAft>
                <a:spcPts val="800"/>
              </a:spcAft>
              <a:defRPr sz="1800">
                <a:solidFill>
                  <a:srgbClr val="F0F4F5"/>
                </a:solidFill>
                <a:latin typeface="Arial"/>
              </a:defRPr>
            </a:pPr>
            <a:r>
              <a:t>WorkBuddy：资料库 + 产物；Qoder：Quest + 权限</a:t>
            </a:r>
          </a:p>
          <a:p>
            <a:pPr>
              <a:spcAft>
                <a:spcPts val="800"/>
              </a:spcAft>
              <a:defRPr sz="1800">
                <a:solidFill>
                  <a:srgbClr val="F0F4F5"/>
                </a:solidFill>
                <a:latin typeface="Arial"/>
              </a:defRPr>
            </a:pPr>
            <a:r>
              <a:t>dsh：插件树 + 会话日志即真相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C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Arial"/>
              </a:defRPr>
            </a:pPr>
            <a:r>
              <a:t>核心发现②：两类问题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8580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A9D8F"/>
                </a:solidFill>
                <a:latin typeface="Arial"/>
              </a:defRPr>
            </a:pPr>
            <a:r>
              <a:t>不要把 Unsloth 当成又一个 Agent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51560"/>
            <a:ext cx="2011680" cy="36576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F0F4F5"/>
                </a:solidFill>
                <a:latin typeface="Arial"/>
              </a:defRPr>
            </a:pPr>
            <a:r>
              <a:t>Harness / 产品壳（Cursor / Codex / WorkBuddy / Qoder / dsh）</a:t>
            </a:r>
          </a:p>
          <a:p>
            <a:pPr>
              <a:spcAft>
                <a:spcPts val="800"/>
              </a:spcAft>
              <a:defRPr sz="1800">
                <a:solidFill>
                  <a:srgbClr val="F0F4F5"/>
                </a:solidFill>
                <a:latin typeface="Arial"/>
              </a:defRPr>
            </a:pPr>
            <a:r>
              <a:t>    → 怎么让模型安全地干活并交付</a:t>
            </a:r>
          </a:p>
          <a:p>
            <a:pPr>
              <a:spcAft>
                <a:spcPts val="800"/>
              </a:spcAft>
              <a:defRPr sz="1800">
                <a:solidFill>
                  <a:srgbClr val="F0F4F5"/>
                </a:solidFill>
                <a:latin typeface="Arial"/>
              </a:defRPr>
            </a:pPr>
            <a:r>
              <a:t>模型运行时（Unsloth）</a:t>
            </a:r>
          </a:p>
          <a:p>
            <a:pPr>
              <a:spcAft>
                <a:spcPts val="800"/>
              </a:spcAft>
              <a:defRPr sz="1800">
                <a:solidFill>
                  <a:srgbClr val="F0F4F5"/>
                </a:solidFill>
                <a:latin typeface="Arial"/>
              </a:defRPr>
            </a:pPr>
            <a:r>
              <a:t>    → 怎么让权重在你机器上训得动、跑得动</a:t>
            </a:r>
          </a:p>
          <a:p>
            <a:pPr>
              <a:spcAft>
                <a:spcPts val="800"/>
              </a:spcAft>
              <a:defRPr sz="1800">
                <a:solidFill>
                  <a:srgbClr val="F0F4F5"/>
                </a:solidFill>
                <a:latin typeface="Arial"/>
              </a:defRPr>
            </a:pPr>
            <a:r>
              <a:t>MacBuddy：薄壳 + sidecar；消费 OpenAI 兼容 /v1 即可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C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Arial"/>
              </a:defRPr>
            </a:pPr>
            <a:r>
              <a:t>Cursor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8580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A9D8F"/>
                </a:solidFill>
                <a:latin typeface="Arial"/>
              </a:defRPr>
            </a:pPr>
            <a:r>
              <a:t>把 AI 焊进编辑器（非插件）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51560"/>
            <a:ext cx="2011680" cy="36576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F0F4F5"/>
                </a:solidFill>
                <a:latin typeface="Arial"/>
              </a:defRPr>
            </a:pPr>
            <a:r>
              <a:t>痛点：毫秒补全、多文件改、仓库检索、可审 diff</a:t>
            </a:r>
          </a:p>
          <a:p>
            <a:pPr>
              <a:spcAft>
                <a:spcPts val="800"/>
              </a:spcAft>
              <a:defRPr sz="1800">
                <a:solidFill>
                  <a:srgbClr val="F0F4F5"/>
                </a:solidFill>
                <a:latin typeface="Arial"/>
              </a:defRPr>
            </a:pPr>
            <a:r>
              <a:t>概念：Merkle 索引、向量检索、ReAct；Tab/行内/Agent 分快慢</a:t>
            </a:r>
          </a:p>
          <a:p>
            <a:pPr>
              <a:spcAft>
                <a:spcPts val="800"/>
              </a:spcAft>
              <a:defRPr sz="1800">
                <a:solidFill>
                  <a:srgbClr val="F0F4F5"/>
                </a:solidFill>
                <a:latin typeface="Arial"/>
              </a:defRPr>
            </a:pPr>
            <a:r>
              <a:t>从零：聊天 → Read → ApplyPatch（必预览）→ Grep → 白名单终端</a:t>
            </a:r>
          </a:p>
          <a:p>
            <a:pPr>
              <a:spcAft>
                <a:spcPts val="800"/>
              </a:spcAft>
              <a:defRPr sz="1800">
                <a:solidFill>
                  <a:srgbClr val="F0F4F5"/>
                </a:solidFill>
                <a:latin typeface="Arial"/>
              </a:defRPr>
            </a:pPr>
            <a:r>
              <a:t>MacBuddy：学补丁预览；不造 Tab 与整套 IDE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C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Arial"/>
              </a:defRPr>
            </a:pPr>
            <a:r>
              <a:t>OpenAI Codex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8580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A9D8F"/>
                </a:solidFill>
                <a:latin typeface="Arial"/>
              </a:defRPr>
            </a:pPr>
            <a:r>
              <a:t>发动机 + 标准插座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51560"/>
            <a:ext cx="2011680" cy="36576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F0F4F5"/>
                </a:solidFill>
                <a:latin typeface="Arial"/>
              </a:defRPr>
            </a:pPr>
            <a:r>
              <a:t>痛点：多 UI 不复制循环；批准、取消、沙箱、CI</a:t>
            </a:r>
          </a:p>
          <a:p>
            <a:pPr>
              <a:spcAft>
                <a:spcPts val="800"/>
              </a:spcAft>
              <a:defRPr sz="1800">
                <a:solidFill>
                  <a:srgbClr val="F0F4F5"/>
                </a:solidFill>
                <a:latin typeface="Arial"/>
              </a:defRPr>
            </a:pPr>
            <a:r>
              <a:t>概念：Thread / Turn / Item；JSON-RPC 可反向问批准</a:t>
            </a:r>
          </a:p>
          <a:p>
            <a:pPr>
              <a:spcAft>
                <a:spcPts val="800"/>
              </a:spcAft>
              <a:defRPr sz="1800">
                <a:solidFill>
                  <a:srgbClr val="F0F4F5"/>
                </a:solidFill>
                <a:latin typeface="Arial"/>
              </a:defRPr>
            </a:pPr>
            <a:r>
              <a:t>从零：while 循环 → 子进程 JSON 事件 → 批准/取消 → jsonl</a:t>
            </a:r>
          </a:p>
          <a:p>
            <a:pPr>
              <a:spcAft>
                <a:spcPts val="800"/>
              </a:spcAft>
              <a:defRPr sz="1800">
                <a:solidFill>
                  <a:srgbClr val="F0F4F5"/>
                </a:solidFill>
                <a:latin typeface="Arial"/>
              </a:defRPr>
            </a:pPr>
            <a:r>
              <a:t>MacBuddy：协议写清；SwiftUI 只投影，不写 Agent 状态机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C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Arial"/>
              </a:defRPr>
            </a:pPr>
            <a:r>
              <a:t>WorkBuddy（腾讯）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8580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A9D8F"/>
                </a:solidFill>
                <a:latin typeface="Arial"/>
              </a:defRPr>
            </a:pPr>
            <a:r>
              <a:t>办公工作台：交作业，不只给建议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51560"/>
            <a:ext cx="2011680" cy="36576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F0F4F5"/>
                </a:solidFill>
                <a:latin typeface="Arial"/>
              </a:defRPr>
            </a:pPr>
            <a:r>
              <a:t>痛点：跨应用跳；聊天不交文件；外出遥控电脑</a:t>
            </a:r>
          </a:p>
          <a:p>
            <a:pPr>
              <a:spcAft>
                <a:spcPts val="800"/>
              </a:spcAft>
              <a:defRPr sz="1800">
                <a:solidFill>
                  <a:srgbClr val="F0F4F5"/>
                </a:solidFill>
                <a:latin typeface="Arial"/>
              </a:defRPr>
            </a:pPr>
            <a:r>
              <a:t>概念：资料库、Skill、连接器、产物篮、云沙箱 vs 本机</a:t>
            </a:r>
          </a:p>
          <a:p>
            <a:pPr>
              <a:spcAft>
                <a:spcPts val="800"/>
              </a:spcAft>
              <a:defRPr sz="1800">
                <a:solidFill>
                  <a:srgbClr val="F0F4F5"/>
                </a:solidFill>
                <a:latin typeface="Arial"/>
              </a:defRPr>
            </a:pPr>
            <a:r>
              <a:t>从零：授权目录 → 产物盒 → 表格 → 一种办公格式 → 任务状态</a:t>
            </a:r>
          </a:p>
          <a:p>
            <a:pPr>
              <a:spcAft>
                <a:spcPts val="800"/>
              </a:spcAft>
              <a:defRPr sz="1800">
                <a:solidFill>
                  <a:srgbClr val="F0F4F5"/>
                </a:solidFill>
                <a:latin typeface="Arial"/>
              </a:defRPr>
            </a:pPr>
            <a:r>
              <a:t>MacBuddy：任务有状态、产物一等公民；不抄全家桶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C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Arial"/>
              </a:defRPr>
            </a:pPr>
            <a:r>
              <a:t>Qoder（阿里）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8580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A9D8F"/>
                </a:solidFill>
                <a:latin typeface="Arial"/>
              </a:defRPr>
            </a:pPr>
            <a:r>
              <a:t>Define the goal. Review the result.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51560"/>
            <a:ext cx="2011680" cy="36576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F0F4F5"/>
                </a:solidFill>
                <a:latin typeface="Arial"/>
              </a:defRPr>
            </a:pPr>
            <a:r>
              <a:t>痛点：多文件任务、失忆、想委派整活</a:t>
            </a:r>
          </a:p>
          <a:p>
            <a:pPr>
              <a:spcAft>
                <a:spcPts val="800"/>
              </a:spcAft>
              <a:defRPr sz="1800">
                <a:solidFill>
                  <a:srgbClr val="F0F4F5"/>
                </a:solidFill>
                <a:latin typeface="Arial"/>
              </a:defRPr>
            </a:pPr>
            <a:r>
              <a:t>概念：四齿轮（Agent/工具/权限/上下文）；Quest；Wiki/Memory</a:t>
            </a:r>
          </a:p>
          <a:p>
            <a:pPr>
              <a:spcAft>
                <a:spcPts val="800"/>
              </a:spcAft>
              <a:defRPr sz="1800">
                <a:solidFill>
                  <a:srgbClr val="F0F4F5"/>
                </a:solidFill>
                <a:latin typeface="Arial"/>
              </a:defRPr>
            </a:pPr>
            <a:r>
              <a:t>从零：绑仓库 → 只读工具 → diff → 权限三态 → AGENTS.md</a:t>
            </a:r>
          </a:p>
          <a:p>
            <a:pPr>
              <a:spcAft>
                <a:spcPts val="800"/>
              </a:spcAft>
              <a:defRPr sz="1800">
                <a:solidFill>
                  <a:srgbClr val="F0F4F5"/>
                </a:solidFill>
                <a:latin typeface="Arial"/>
              </a:defRPr>
            </a:pPr>
            <a:r>
              <a:t>MacBuddy：Code 停在补丁+预览；不做完整 IDE / 专家团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C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Arial"/>
              </a:defRPr>
            </a:pPr>
            <a:r>
              <a:t>DeepSeek Harness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8580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A9D8F"/>
                </a:solidFill>
                <a:latin typeface="Arial"/>
              </a:defRPr>
            </a:pPr>
            <a:r>
              <a:t>Everything is a plugin · 不是模型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51560"/>
            <a:ext cx="2011680" cy="36576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F0F4F5"/>
                </a:solidFill>
                <a:latin typeface="Arial"/>
              </a:defRPr>
            </a:pPr>
            <a:r>
              <a:t>痛点：核心缠死；多外壳复制；无法回放模型所见</a:t>
            </a:r>
          </a:p>
          <a:p>
            <a:pPr>
              <a:spcAft>
                <a:spcPts val="800"/>
              </a:spcAft>
              <a:defRPr sz="1800">
                <a:solidFill>
                  <a:srgbClr val="F0F4F5"/>
                </a:solidFill>
                <a:latin typeface="Arial"/>
              </a:defRPr>
            </a:pPr>
            <a:r>
              <a:t>概念：Cordis 插拔；profile/bundle；Turn/Step；日志=真相</a:t>
            </a:r>
          </a:p>
          <a:p>
            <a:pPr>
              <a:spcAft>
                <a:spcPts val="800"/>
              </a:spcAft>
              <a:defRPr sz="1800">
                <a:solidFill>
                  <a:srgbClr val="F0F4F5"/>
                </a:solidFill>
                <a:latin typeface="Arial"/>
              </a:defRPr>
            </a:pPr>
            <a:r>
              <a:t>铁律：模型可见 ⇒ 必须能从会话日志重建</a:t>
            </a:r>
          </a:p>
          <a:p>
            <a:pPr>
              <a:spcAft>
                <a:spcPts val="800"/>
              </a:spcAft>
              <a:defRPr sz="1800">
                <a:solidFill>
                  <a:srgbClr val="F0F4F5"/>
                </a:solidFill>
                <a:latin typeface="Arial"/>
              </a:defRPr>
            </a:pPr>
            <a:r>
              <a:t>MacBuddy：只追加事件、sidecar 可替换；不移植 Cordis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C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Arial"/>
              </a:defRPr>
            </a:pPr>
            <a:r>
              <a:t>Unsloth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8580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A9D8F"/>
                </a:solidFill>
                <a:latin typeface="Arial"/>
              </a:defRPr>
            </a:pPr>
            <a:r>
              <a:t>训练/推理运行时，不是 Agent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51560"/>
            <a:ext cx="2011680" cy="36576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F0F4F5"/>
                </a:solidFill>
                <a:latin typeface="Arial"/>
              </a:defRPr>
            </a:pPr>
            <a:r>
              <a:t>痛点：太大、全量微调太贵、格式分裂（GGUF/MLX）</a:t>
            </a:r>
          </a:p>
          <a:p>
            <a:pPr>
              <a:spcAft>
                <a:spcPts val="800"/>
              </a:spcAft>
              <a:defRPr sz="1800">
                <a:solidFill>
                  <a:srgbClr val="F0F4F5"/>
                </a:solidFill>
                <a:latin typeface="Arial"/>
              </a:defRPr>
            </a:pPr>
            <a:r>
              <a:t>NVIDIA：LoRA/QLoRA + Triton 融合内核</a:t>
            </a:r>
          </a:p>
          <a:p>
            <a:pPr>
              <a:spcAft>
                <a:spcPts val="800"/>
              </a:spcAft>
              <a:defRPr sz="1800">
                <a:solidFill>
                  <a:srgbClr val="F0F4F5"/>
                </a:solidFill>
                <a:latin typeface="Arial"/>
              </a:defRPr>
            </a:pPr>
            <a:r>
              <a:t>Mac：llama.cpp Metal / MLX；与 Ollama 同速度档</a:t>
            </a:r>
          </a:p>
          <a:p>
            <a:pPr>
              <a:spcAft>
                <a:spcPts val="800"/>
              </a:spcAft>
              <a:defRPr sz="1800">
                <a:solidFill>
                  <a:srgbClr val="F0F4F5"/>
                </a:solidFill>
                <a:latin typeface="Arial"/>
              </a:defRPr>
            </a:pPr>
            <a:r>
              <a:t>MacBuddy：接 /v1；16GB 优先 ≤4B Q4；不自研训练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C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Arial"/>
              </a:defRPr>
            </a:pPr>
            <a:r>
              <a:t>横向对比（精简）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8580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A9D8F"/>
                </a:solidFill>
                <a:latin typeface="Arial"/>
              </a:defRPr>
            </a:pPr>
            <a:r>
              <a:t>主战场与交付物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51560"/>
            <a:ext cx="2011680" cy="36576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F0F4F5"/>
                </a:solidFill>
                <a:latin typeface="Arial"/>
              </a:defRPr>
            </a:pPr>
            <a:r>
              <a:t>Cursor — IDE 编码 — 代码 diff</a:t>
            </a:r>
          </a:p>
          <a:p>
            <a:pPr>
              <a:spcAft>
                <a:spcPts val="800"/>
              </a:spcAft>
              <a:defRPr sz="1800">
                <a:solidFill>
                  <a:srgbClr val="F0F4F5"/>
                </a:solidFill>
                <a:latin typeface="Arial"/>
              </a:defRPr>
            </a:pPr>
            <a:r>
              <a:t>Codex — Agent 核心 — 事件流 / 补丁</a:t>
            </a:r>
          </a:p>
          <a:p>
            <a:pPr>
              <a:spcAft>
                <a:spcPts val="800"/>
              </a:spcAft>
              <a:defRPr sz="1800">
                <a:solidFill>
                  <a:srgbClr val="F0F4F5"/>
                </a:solidFill>
                <a:latin typeface="Arial"/>
              </a:defRPr>
            </a:pPr>
            <a:r>
              <a:t>WorkBuddy — 办公交付 — 文档表格</a:t>
            </a:r>
          </a:p>
          <a:p>
            <a:pPr>
              <a:spcAft>
                <a:spcPts val="800"/>
              </a:spcAft>
              <a:defRPr sz="1800">
                <a:solidFill>
                  <a:srgbClr val="F0F4F5"/>
                </a:solidFill>
                <a:latin typeface="Arial"/>
              </a:defRPr>
            </a:pPr>
            <a:r>
              <a:t>Qoder — 编程委派 — Quest + diff</a:t>
            </a:r>
          </a:p>
          <a:p>
            <a:pPr>
              <a:spcAft>
                <a:spcPts val="800"/>
              </a:spcAft>
              <a:defRPr sz="1800">
                <a:solidFill>
                  <a:srgbClr val="F0F4F5"/>
                </a:solidFill>
                <a:latin typeface="Arial"/>
              </a:defRPr>
            </a:pPr>
            <a:r>
              <a:t>dsh — 可插拔底盘 — 会话日志</a:t>
            </a:r>
          </a:p>
          <a:p>
            <a:pPr>
              <a:spcAft>
                <a:spcPts val="800"/>
              </a:spcAft>
              <a:defRPr sz="1800">
                <a:solidFill>
                  <a:srgbClr val="F0F4F5"/>
                </a:solidFill>
                <a:latin typeface="Arial"/>
              </a:defRPr>
            </a:pPr>
            <a:r>
              <a:t>Unsloth — 训练/推理 — 权重 / GGUF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C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Arial"/>
              </a:defRPr>
            </a:pPr>
            <a:r>
              <a:t>Agent 类共性硬决定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8580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A9D8F"/>
                </a:solidFill>
                <a:latin typeface="Arial"/>
              </a:defRPr>
            </a:pPr>
            <a:r>
              <a:t>产品宪法级选择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51560"/>
            <a:ext cx="2011680" cy="36576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F0F4F5"/>
                </a:solidFill>
                <a:latin typeface="Arial"/>
              </a:defRPr>
            </a:pPr>
            <a:r>
              <a:t>改盘前要不要人看 diff / 批准？</a:t>
            </a:r>
          </a:p>
          <a:p>
            <a:pPr>
              <a:spcAft>
                <a:spcPts val="800"/>
              </a:spcAft>
              <a:defRPr sz="2000">
                <a:solidFill>
                  <a:srgbClr val="F0F4F5"/>
                </a:solidFill>
                <a:latin typeface="Arial"/>
              </a:defRPr>
            </a:pPr>
            <a:r>
              <a:t>工具失败是否把报错原文回灌模型？</a:t>
            </a:r>
          </a:p>
          <a:p>
            <a:pPr>
              <a:spcAft>
                <a:spcPts val="800"/>
              </a:spcAft>
              <a:defRPr sz="2000">
                <a:solidFill>
                  <a:srgbClr val="F0F4F5"/>
                </a:solidFill>
                <a:latin typeface="Arial"/>
              </a:defRPr>
            </a:pPr>
            <a:r>
              <a:t>界面主线程绝不阻塞等待模型</a:t>
            </a:r>
          </a:p>
          <a:p>
            <a:pPr>
              <a:spcAft>
                <a:spcPts val="800"/>
              </a:spcAft>
              <a:defRPr sz="2000">
                <a:solidFill>
                  <a:srgbClr val="F0F4F5"/>
                </a:solidFill>
                <a:latin typeface="Arial"/>
              </a:defRPr>
            </a:pPr>
            <a:r>
              <a:t>工作区边界与命令白名单写死</a:t>
            </a:r>
          </a:p>
          <a:p>
            <a:pPr>
              <a:spcAft>
                <a:spcPts val="800"/>
              </a:spcAft>
              <a:defRPr sz="2000">
                <a:solidFill>
                  <a:srgbClr val="F0F4F5"/>
                </a:solidFill>
                <a:latin typeface="Arial"/>
              </a:defRPr>
            </a:pPr>
            <a:r>
              <a:t>无界面 / CI 模式下 ask 如何降级？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C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Arial"/>
              </a:defRPr>
            </a:pPr>
            <a:r>
              <a:t>对 MacBuddy 的行动建议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8580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A9D8F"/>
                </a:solidFill>
                <a:latin typeface="Arial"/>
              </a:defRPr>
            </a:pPr>
            <a:r>
              <a:t>学脊梁，不抄航母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51560"/>
            <a:ext cx="2011680" cy="36576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F0F4F5"/>
                </a:solidFill>
                <a:latin typeface="Arial"/>
              </a:defRPr>
            </a:pPr>
            <a:r>
              <a:t>保持：薄壳 + sidecar；事件 token/tool/approval/done/error</a:t>
            </a:r>
          </a:p>
          <a:p>
            <a:pPr>
              <a:spcAft>
                <a:spcPts val="800"/>
              </a:spcAft>
              <a:defRPr sz="1700">
                <a:solidFill>
                  <a:srgbClr val="F0F4F5"/>
                </a:solidFill>
                <a:latin typeface="Arial"/>
              </a:defRPr>
            </a:pPr>
            <a:r>
              <a:t>Work：任务状态 + 产物盒；不做网盘/技能市场</a:t>
            </a:r>
          </a:p>
          <a:p>
            <a:pPr>
              <a:spcAft>
                <a:spcPts val="800"/>
              </a:spcAft>
              <a:defRPr sz="1700">
                <a:solidFill>
                  <a:srgbClr val="F0F4F5"/>
                </a:solidFill>
                <a:latin typeface="Arial"/>
              </a:defRPr>
            </a:pPr>
            <a:r>
              <a:t>Code：补丁预览 + 权限三态；不做 Quest IDE / Wiki 工厂</a:t>
            </a:r>
          </a:p>
          <a:p>
            <a:pPr>
              <a:spcAft>
                <a:spcPts val="800"/>
              </a:spcAft>
              <a:defRPr sz="1700">
                <a:solidFill>
                  <a:srgbClr val="F0F4F5"/>
                </a:solidFill>
                <a:latin typeface="Arial"/>
              </a:defRPr>
            </a:pPr>
            <a:r>
              <a:t>模型：本地 Ollama / Unsloth Desktop /v1；小模型保体感</a:t>
            </a:r>
          </a:p>
          <a:p>
            <a:pPr>
              <a:spcAft>
                <a:spcPts val="800"/>
              </a:spcAft>
              <a:defRPr sz="1700">
                <a:solidFill>
                  <a:srgbClr val="F0F4F5"/>
                </a:solidFill>
                <a:latin typeface="Arial"/>
              </a:defRPr>
            </a:pPr>
            <a:r>
              <a:t>预期：「从零」= 同类最小系统，不是完整商业 IDE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C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Arial"/>
              </a:defRPr>
            </a:pPr>
            <a:r>
              <a:t>结论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8580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A9D8F"/>
                </a:solidFill>
                <a:latin typeface="Arial"/>
              </a:defRPr>
            </a:pPr>
            <a:r>
              <a:t>值钱的是脊梁，不是皮肤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51560"/>
            <a:ext cx="2011680" cy="36576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F0F4F5"/>
                </a:solidFill>
                <a:latin typeface="Arial"/>
              </a:defRPr>
            </a:pPr>
            <a:r>
              <a:t>值钱：循环 + 工具守卫 + 可审交付 + 可回放上下文</a:t>
            </a:r>
          </a:p>
          <a:p>
            <a:pPr>
              <a:spcAft>
                <a:spcPts val="800"/>
              </a:spcAft>
              <a:defRPr sz="2000">
                <a:solidFill>
                  <a:srgbClr val="F0F4F5"/>
                </a:solidFill>
                <a:latin typeface="Arial"/>
              </a:defRPr>
            </a:pPr>
            <a:r>
              <a:t>模型怎么跑 与 Agent 怎么干 必须解耦</a:t>
            </a:r>
          </a:p>
          <a:p>
            <a:pPr>
              <a:spcAft>
                <a:spcPts val="800"/>
              </a:spcAft>
              <a:defRPr sz="2000">
                <a:solidFill>
                  <a:srgbClr val="F0F4F5"/>
                </a:solidFill>
                <a:latin typeface="Arial"/>
              </a:defRPr>
            </a:pPr>
            <a:r>
              <a:t>分册原文：docs/teardowns/from-zero/00–06</a:t>
            </a:r>
          </a:p>
          <a:p>
            <a:pPr>
              <a:spcAft>
                <a:spcPts val="800"/>
              </a:spcAft>
              <a:defRPr sz="2000">
                <a:solidFill>
                  <a:srgbClr val="F0F4F5"/>
                </a:solidFill>
                <a:latin typeface="Arial"/>
              </a:defRPr>
            </a:pPr>
            <a:r>
              <a:t>完整报告：docs/teardowns/from-zero/调查报告.md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C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Arial"/>
              </a:defRPr>
            </a:pPr>
            <a:r>
              <a:t>附录：建议阅读顺序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8580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A9D8F"/>
                </a:solidFill>
                <a:latin typeface="Arial"/>
              </a:defRPr>
            </a:pPr>
            <a:r>
              <a:t>仍回到七份 md 深读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51560"/>
            <a:ext cx="2011680" cy="36576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F0F4F5"/>
                </a:solidFill>
                <a:latin typeface="Arial"/>
              </a:defRPr>
            </a:pPr>
            <a:r>
              <a:t>① 00-README — 同一口锅</a:t>
            </a:r>
          </a:p>
          <a:p>
            <a:pPr>
              <a:spcAft>
                <a:spcPts val="800"/>
              </a:spcAft>
              <a:defRPr sz="2000">
                <a:solidFill>
                  <a:srgbClr val="F0F4F5"/>
                </a:solidFill>
                <a:latin typeface="Arial"/>
              </a:defRPr>
            </a:pPr>
            <a:r>
              <a:t>② 01-cursor + 02-codex — 循环与外壳</a:t>
            </a:r>
          </a:p>
          <a:p>
            <a:pPr>
              <a:spcAft>
                <a:spcPts val="800"/>
              </a:spcAft>
              <a:defRPr sz="2000">
                <a:solidFill>
                  <a:srgbClr val="F0F4F5"/>
                </a:solidFill>
                <a:latin typeface="Arial"/>
              </a:defRPr>
            </a:pPr>
            <a:r>
              <a:t>③ 03-workbuddy + 04-qoder — 办公 vs 编程</a:t>
            </a:r>
          </a:p>
          <a:p>
            <a:pPr>
              <a:spcAft>
                <a:spcPts val="800"/>
              </a:spcAft>
              <a:defRPr sz="2000">
                <a:solidFill>
                  <a:srgbClr val="F0F4F5"/>
                </a:solidFill>
                <a:latin typeface="Arial"/>
              </a:defRPr>
            </a:pPr>
            <a:r>
              <a:t>④ 05-deepseek-harness — 插件与日志铁律</a:t>
            </a:r>
          </a:p>
          <a:p>
            <a:pPr>
              <a:spcAft>
                <a:spcPts val="800"/>
              </a:spcAft>
              <a:defRPr sz="2000">
                <a:solidFill>
                  <a:srgbClr val="F0F4F5"/>
                </a:solidFill>
                <a:latin typeface="Arial"/>
              </a:defRPr>
            </a:pPr>
            <a:r>
              <a:t>⑤ 06-unsloth — 运行时，勿与 Agent 混淆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C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56032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  <a:latin typeface="Arial"/>
              </a:defRPr>
            </a:pPr>
            <a:r>
              <a:t>谢谢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347472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A8B5BC"/>
                </a:solidFill>
                <a:latin typeface="Arial"/>
              </a:defRPr>
            </a:pPr>
            <a:r>
              <a:t>材料目录：docs/teardowns/from-zero/</a:t>
            </a:r>
            <a:br/>
            <a:r>
              <a:t>报告：调查报告.md  ·  本演示：AI产品拆解调查报告.pptx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